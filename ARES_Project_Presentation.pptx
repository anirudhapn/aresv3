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54864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881360" y="1828800"/>
            <a:ext cx="548640" cy="54864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326880" y="5120640"/>
            <a:ext cx="822960" cy="8229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B8A6"/>
                </a:solidFill>
                <a:latin typeface="Segoe UI Semibold"/>
              </a:rPr>
              <a:t>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7863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0" b="1">
                <a:solidFill>
                  <a:srgbClr val="FFFFFF"/>
                </a:solidFill>
                <a:latin typeface="Segoe UI Semibold"/>
              </a:rPr>
              <a:t>ARES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2900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C9D6E3"/>
                </a:solidFill>
                <a:latin typeface="Segoe UI"/>
              </a:rPr>
              <a:t>Adaptive Research Ecosystem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2336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9CADC2"/>
                </a:solidFill>
                <a:latin typeface="Segoe UI"/>
              </a:rPr>
              <a:t>A Multi-Agent AI System for Evidence-Grounded Research Proposal Generation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709160"/>
            <a:ext cx="201168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93776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ANIRUDH P NAIR   </a:t>
            </a:r>
            <a:r>
              <a:rPr sz="1400">
                <a:solidFill>
                  <a:srgbClr val="9CADC2"/>
                </a:solidFill>
                <a:latin typeface="Segoe UI"/>
              </a:rPr>
              <a:t>CH.SC.U4CYS24004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ARCHANAA D   </a:t>
            </a:r>
            <a:r>
              <a:rPr sz="1400">
                <a:solidFill>
                  <a:srgbClr val="9CADC2"/>
                </a:solidFill>
                <a:latin typeface="Segoe UI"/>
              </a:rPr>
              <a:t>CH.SC.U4CYS24005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 Semibold"/>
              </a:rPr>
              <a:t>YASHICA MANIVEL   </a:t>
            </a:r>
            <a:r>
              <a:rPr sz="1400">
                <a:solidFill>
                  <a:srgbClr val="9CADC2"/>
                </a:solidFill>
                <a:latin typeface="Segoe UI"/>
              </a:rPr>
              <a:t>CH.SC.U4CYS24058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E"/>
                </a:solidFill>
                <a:latin typeface="Segoe UI Semibold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334155"/>
                </a:solidFill>
                <a:latin typeface="Segoe UI"/>
              </a:rPr>
              <a:t>Starting a research project is slow, error-prone, and increasingly compromised by AI tools that generate confident but unverifiable content.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700" b="1">
                <a:solidFill>
                  <a:srgbClr val="0F1B2E"/>
                </a:solidFill>
                <a:latin typeface="Segoe UI Semibold"/>
              </a:rPr>
              <a:t>Literature review is time-consuming. </a:t>
            </a:r>
            <a:r>
              <a:rPr sz="1700">
                <a:solidFill>
                  <a:srgbClr val="334155"/>
                </a:solidFill>
                <a:latin typeface="Segoe UI"/>
              </a:rPr>
              <a:t>Manually surveying papers to find real, relevant prior work and genuine research gaps takes days to weeks, especially for students and early-career researchers.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700" b="1">
                <a:solidFill>
                  <a:srgbClr val="0F1B2E"/>
                </a:solidFill>
                <a:latin typeface="Segoe UI Semibold"/>
              </a:rPr>
              <a:t>Generic AI chatbots hallucinate. </a:t>
            </a:r>
            <a:r>
              <a:rPr sz="1700">
                <a:solidFill>
                  <a:srgbClr val="334155"/>
                </a:solidFill>
                <a:latin typeface="Segoe UI"/>
              </a:rPr>
              <a:t>Tools like ChatGPT frequently fabricate paper titles, authors, and citations that do not exist — a serious risk when used for academic work.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700" b="1">
                <a:solidFill>
                  <a:srgbClr val="0F1B2E"/>
                </a:solidFill>
                <a:latin typeface="Segoe UI Semibold"/>
              </a:rPr>
              <a:t>Proposals lack structure and rigor. </a:t>
            </a:r>
            <a:r>
              <a:rPr sz="1700">
                <a:solidFill>
                  <a:srgbClr val="334155"/>
                </a:solidFill>
                <a:latin typeface="Segoe UI"/>
              </a:rPr>
              <a:t>Objectives, gaps, methodology, and self-critique are rarely produced together, consistently, or backed by traceable evidence.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▸  </a:t>
            </a:r>
            <a:r>
              <a:rPr sz="1700" b="1">
                <a:solidFill>
                  <a:srgbClr val="0F1B2E"/>
                </a:solidFill>
                <a:latin typeface="Segoe UI Semibold"/>
              </a:rPr>
              <a:t>There is no quantifiable trust signal. </a:t>
            </a:r>
            <a:r>
              <a:rPr sz="1700">
                <a:solidFill>
                  <a:srgbClr val="334155"/>
                </a:solidFill>
                <a:latin typeface="Segoe UI"/>
              </a:rPr>
              <a:t>Existing AI writing tools give no measurable indication of how confident, evidence-backed, or complete their output actually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ARES — Adaptive Research Ecosystem Suite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E"/>
                </a:solidFill>
                <a:latin typeface="Segoe UI Semibold"/>
              </a:rPr>
              <a:t>Why This Project &amp; Who It Helps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9488"/>
                </a:solidFill>
                <a:latin typeface="Segoe UI Semibold"/>
              </a:rPr>
              <a:t>WHY THIS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Directly aligned with our AI &amp; Neural Networks coursework — combines multi-agent orchestration with an actually trained neural network.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Tackles a problem we personally face: scoping and writing a credible research proposal from scratch.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Lets us explore real challenges — retrieval-grounded generation, hallucination prevention, and evaluating AI agent output quality.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Includes both an API-based path and a fully local, custom LoRA-fine-tuned neural network (google/flan-t5-small, 77M params) — a genuine from-scratch training story, not just API calls.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737360"/>
            <a:ext cx="19050" cy="448056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737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9488"/>
                </a:solidFill>
                <a:latin typeface="Segoe UI Semibold"/>
              </a:rPr>
              <a:t>WHO IT HELPS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Students &amp; researchers starting a thesis or project, who need to quickly scope a topic and see what already exists.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Early-career researchers without easy access to a mentor for initial literature review and gap-finding.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Faculty &amp; supervisors, who can review structured, evidence-backed drafts faster instead of unstructured notes.</a:t>
            </a:r>
          </a:p>
          <a:p>
            <a:pPr>
              <a:spcAft>
                <a:spcPts val="1200"/>
              </a:spcAft>
            </a:pPr>
            <a:r>
              <a:rPr sz="1450" b="1">
                <a:solidFill>
                  <a:srgbClr val="0D9488"/>
                </a:solidFill>
                <a:latin typeface="Segoe UI"/>
              </a:rPr>
              <a:t>▸  </a:t>
            </a:r>
            <a:r>
              <a:rPr sz="1450">
                <a:solidFill>
                  <a:srgbClr val="334155"/>
                </a:solidFill>
                <a:latin typeface="Segoe UI"/>
              </a:rPr>
              <a:t>Anyone in low-connectivity or cost-constrained settings, via the offline, locally-trained neural network path — no API cost or dependency.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ARES — Adaptive Research Ecosystem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E"/>
                </a:solidFill>
                <a:latin typeface="Segoe UI Semibold"/>
              </a:rPr>
              <a:t>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638044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50" b="1" dirty="0">
                <a:solidFill>
                  <a:srgbClr val="0D9488"/>
                </a:solidFill>
                <a:latin typeface="Segoe UI"/>
              </a:rPr>
              <a:t>▸  </a:t>
            </a:r>
            <a:r>
              <a:rPr sz="1750" b="1" dirty="0">
                <a:solidFill>
                  <a:srgbClr val="0F1B2E"/>
                </a:solidFill>
                <a:latin typeface="Segoe UI Semibold"/>
              </a:rPr>
              <a:t>Speed. </a:t>
            </a:r>
            <a:r>
              <a:rPr sz="1750" dirty="0">
                <a:solidFill>
                  <a:srgbClr val="334155"/>
                </a:solidFill>
                <a:latin typeface="Segoe UI"/>
              </a:rPr>
              <a:t>Cuts the time to produce a well-scoped, evidence-grounded research proposal from days down to minutes.</a:t>
            </a:r>
          </a:p>
          <a:p>
            <a:pPr>
              <a:spcAft>
                <a:spcPts val="1500"/>
              </a:spcAft>
            </a:pPr>
            <a:r>
              <a:rPr sz="1750" b="1" dirty="0">
                <a:solidFill>
                  <a:srgbClr val="0D9488"/>
                </a:solidFill>
                <a:latin typeface="Segoe UI"/>
              </a:rPr>
              <a:t>▸  </a:t>
            </a:r>
            <a:r>
              <a:rPr sz="1750" b="1" dirty="0">
                <a:solidFill>
                  <a:srgbClr val="0F1B2E"/>
                </a:solidFill>
                <a:latin typeface="Segoe UI Semibold"/>
              </a:rPr>
              <a:t>Trustworthy by design. </a:t>
            </a:r>
            <a:r>
              <a:rPr sz="1750" dirty="0">
                <a:solidFill>
                  <a:srgbClr val="334155"/>
                </a:solidFill>
                <a:latin typeface="Segoe UI"/>
              </a:rPr>
              <a:t>Every claim is grounded in real papers retrieved live from Semantic Scholar and </a:t>
            </a:r>
            <a:r>
              <a:rPr sz="1750" dirty="0" err="1">
                <a:solidFill>
                  <a:srgbClr val="334155"/>
                </a:solidFill>
                <a:latin typeface="Segoe UI"/>
              </a:rPr>
              <a:t>arXiv</a:t>
            </a:r>
            <a:r>
              <a:rPr sz="1750" dirty="0">
                <a:solidFill>
                  <a:srgbClr val="334155"/>
                </a:solidFill>
                <a:latin typeface="Segoe UI"/>
              </a:rPr>
              <a:t> — not invented citations.</a:t>
            </a:r>
          </a:p>
          <a:p>
            <a:pPr>
              <a:spcAft>
                <a:spcPts val="1500"/>
              </a:spcAft>
            </a:pPr>
            <a:r>
              <a:rPr sz="1750" b="1" dirty="0">
                <a:solidFill>
                  <a:srgbClr val="0D9488"/>
                </a:solidFill>
                <a:latin typeface="Segoe UI"/>
              </a:rPr>
              <a:t>▸  </a:t>
            </a:r>
            <a:r>
              <a:rPr sz="1750" b="1" dirty="0">
                <a:solidFill>
                  <a:srgbClr val="0F1B2E"/>
                </a:solidFill>
                <a:latin typeface="Segoe UI Semibold"/>
              </a:rPr>
              <a:t>Measurable quality. </a:t>
            </a:r>
            <a:r>
              <a:rPr sz="1750" dirty="0">
                <a:solidFill>
                  <a:srgbClr val="334155"/>
                </a:solidFill>
                <a:latin typeface="Segoe UI"/>
              </a:rPr>
              <a:t>The Adaptive Collaboration Score (ACS) gives a transparent, quantifiable signal of each agent's confidence, evidence quality, and task completion.</a:t>
            </a:r>
          </a:p>
          <a:p>
            <a:pPr>
              <a:spcAft>
                <a:spcPts val="1500"/>
              </a:spcAft>
            </a:pPr>
            <a:r>
              <a:rPr sz="1750" b="1" dirty="0">
                <a:solidFill>
                  <a:srgbClr val="0D9488"/>
                </a:solidFill>
                <a:latin typeface="Segoe UI"/>
              </a:rPr>
              <a:t>▸  </a:t>
            </a:r>
            <a:r>
              <a:rPr sz="1750" b="1" dirty="0">
                <a:solidFill>
                  <a:srgbClr val="0F1B2E"/>
                </a:solidFill>
                <a:latin typeface="Segoe UI Semibold"/>
              </a:rPr>
              <a:t>A real trained neural network, not just an API wrapper. </a:t>
            </a:r>
            <a:r>
              <a:rPr sz="1750" dirty="0">
                <a:solidFill>
                  <a:srgbClr val="334155"/>
                </a:solidFill>
                <a:latin typeface="Segoe UI"/>
              </a:rPr>
              <a:t>Demonstrates that a small, custom </a:t>
            </a:r>
            <a:r>
              <a:rPr sz="1750" dirty="0" err="1">
                <a:solidFill>
                  <a:srgbClr val="334155"/>
                </a:solidFill>
                <a:latin typeface="Segoe UI"/>
              </a:rPr>
              <a:t>LoRA</a:t>
            </a:r>
            <a:r>
              <a:rPr sz="1750" dirty="0">
                <a:solidFill>
                  <a:srgbClr val="334155"/>
                </a:solidFill>
                <a:latin typeface="Segoe UI"/>
              </a:rPr>
              <a:t>-fine-tuned model can run fully offline and still produce structured, usable research output.</a:t>
            </a:r>
          </a:p>
          <a:p>
            <a:pPr>
              <a:spcAft>
                <a:spcPts val="1500"/>
              </a:spcAft>
            </a:pPr>
            <a:r>
              <a:rPr sz="1750" b="1" dirty="0">
                <a:solidFill>
                  <a:srgbClr val="0D9488"/>
                </a:solidFill>
                <a:latin typeface="Segoe UI"/>
              </a:rPr>
              <a:t>▸  </a:t>
            </a:r>
            <a:r>
              <a:rPr sz="1750" b="1" dirty="0">
                <a:solidFill>
                  <a:srgbClr val="0F1B2E"/>
                </a:solidFill>
                <a:latin typeface="Segoe UI Semibold"/>
              </a:rPr>
              <a:t>A reusable template. </a:t>
            </a:r>
            <a:r>
              <a:rPr sz="1750" dirty="0">
                <a:solidFill>
                  <a:srgbClr val="334155"/>
                </a:solidFill>
                <a:latin typeface="Segoe UI"/>
              </a:rPr>
              <a:t>The multi-agent, self-reviewing, evidence-bounded architecture generalizes beyond research proposals to any task where AI hallucination is a real risk.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ARES — Adaptive Research Ecosystem Suite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CACAF1-1FE4-9E38-ED31-1BA808574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544" y="1014984"/>
            <a:ext cx="9836854" cy="14578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F1B2E"/>
                </a:solidFill>
                <a:latin typeface="Segoe UI Semibold"/>
              </a:rPr>
              <a:t>Research Gap — Existing Work vs. ARES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334155"/>
                </a:solidFill>
                <a:latin typeface="Segoe UI"/>
              </a:rPr>
              <a:t>Where comparable existing systems fall short, and the specific design choice in ARES that addresses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2148840" cy="36576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Segoe UI Semibold"/>
              </a:rPr>
              <a:t>  Existing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2011680"/>
            <a:ext cx="4343400" cy="36576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Segoe UI Semibold"/>
              </a:rPr>
              <a:t>  What It Does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60920" y="2011680"/>
            <a:ext cx="4434840" cy="365760"/>
          </a:xfrm>
          <a:prstGeom prst="rect">
            <a:avLst/>
          </a:prstGeom>
          <a:solidFill>
            <a:srgbClr val="0F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Segoe UI Semibold"/>
              </a:rPr>
              <a:t>  What ARES Does Differently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50592"/>
            <a:ext cx="21488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F1B2E"/>
                </a:solidFill>
                <a:latin typeface="Segoe UI Semibold"/>
              </a:rPr>
              <a:t>GPT Researcher
(open-source agent)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2450592"/>
            <a:ext cx="434340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Scrapes web sources into one report. No gap-analysis, methodology, or scoring stage.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60920" y="2450592"/>
            <a:ext cx="44348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5 specialized, individually-scored agents. Every claim links to the real paper backing it, not just a source list.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104896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F1B2E"/>
                </a:solidFill>
                <a:latin typeface="Segoe UI Semibold"/>
              </a:rPr>
              <a:t>Elicit
(Ought / elicit.com)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104896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Extracts and tabulates data points across papers. Strong at summarization, no full proposal or self-review.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3104896"/>
            <a:ext cx="4434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Produces objectives, evidence-bounded gaps, whitelist-grounded methodology, and a self-critique review end-to-end.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59200"/>
            <a:ext cx="21488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F1B2E"/>
                </a:solidFill>
                <a:latin typeface="Segoe UI Semibold"/>
              </a:rPr>
              <a:t>STORM
(Shao et al., Stanford,
NAACL 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3759200"/>
            <a:ext cx="434340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Multi-perspective Q&amp;A to write Wikipedia-style articles — breadth, not proposal scoping.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0920" y="3759200"/>
            <a:ext cx="44348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Purpose-built for proposals: bounded gaps, verified methodology, and a dedicated Reviewer stage STORM lacks.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413504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F1B2E"/>
                </a:solidFill>
                <a:latin typeface="Segoe UI Semibold"/>
              </a:rPr>
              <a:t>ResearchAgent
(Baek et al., 2024)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4413504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Iteratively refines one research idea via LLM reviewer agents critiquing novelty and feasibility.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20" y="4413504"/>
            <a:ext cx="4434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Scoring is deterministic where possible (embedding-based novelty/coherence, rule-check quality), not another LLM's subjective opinion — and continues into full methodology.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067808"/>
            <a:ext cx="21488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F1B2E"/>
                </a:solidFill>
                <a:latin typeface="Segoe UI Semibold"/>
              </a:rPr>
              <a:t>The AI Scientist
(Sakana AI, 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5067808"/>
            <a:ext cx="434340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Fully autonomous idea→experiment→paper→review; documented to sometimes misreport results or citations.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60920" y="5067808"/>
            <a:ext cx="4434840" cy="603504"/>
          </a:xfrm>
          <a:prstGeom prst="rect">
            <a:avLst/>
          </a:prstGeom>
          <a:solidFill>
            <a:srgbClr val="F7F9FA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Scoped narrower on purpose: citations, datasets, and algorithms are structurally grounded, never generated 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722112"/>
            <a:ext cx="2148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F1B2E"/>
                </a:solidFill>
                <a:latin typeface="Segoe UI Semibold"/>
              </a:rPr>
              <a:t>Generic LLM chatbot
(ChatGPT / Gemini direct)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80360" y="5722112"/>
            <a:ext cx="43434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Single-shot prompting. Commonly fabricates citations, no built-in scoring or evidence trail.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5722112"/>
            <a:ext cx="44348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1600" tIns="25400" rIns="101600" bIns="25400" rtlCol="0" anchor="ctr"/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334155"/>
                </a:solidFill>
                <a:latin typeface="Segoe UI"/>
              </a:rPr>
              <a:t>Real retrieval (Semantic Scholar + arXiv) + transparent ACS/novelty/coherence scores replace an opaque answer.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ARES — Adaptive Research Ecosystem Suite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F1B2E"/>
                </a:solidFill>
                <a:latin typeface="Segoe UI Semibold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17320"/>
            <a:ext cx="1097280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9488"/>
                </a:solidFill>
                <a:latin typeface="Segoe UI Semibold"/>
              </a:rPr>
              <a:t>RELATED WORK  (compared on the Research Gap slide)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[1]  </a:t>
            </a:r>
            <a:r>
              <a:rPr sz="1200">
                <a:solidFill>
                  <a:srgbClr val="334155"/>
                </a:solidFill>
                <a:latin typeface="Segoe UI"/>
              </a:rPr>
              <a:t>Shao, Y., Jiang, Y., Kanell, T. A., et al. (2024). Assisting in Writing Wikipedia-like Articles From Scratch with Large Language Models (STORM). Proceedings of NAACL 2024.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[2]  </a:t>
            </a:r>
            <a:r>
              <a:rPr sz="1200">
                <a:solidFill>
                  <a:srgbClr val="334155"/>
                </a:solidFill>
                <a:latin typeface="Segoe UI"/>
              </a:rPr>
              <a:t>Lu, C., Lu, C., Lange, R. T., et al. (2024). The AI Scientist: Towards Fully Automated Open-Ended Scientific Discovery. Sakana AI. arXiv:2408.06292.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[3]  </a:t>
            </a:r>
            <a:r>
              <a:rPr sz="1200">
                <a:solidFill>
                  <a:srgbClr val="334155"/>
                </a:solidFill>
                <a:latin typeface="Segoe UI"/>
              </a:rPr>
              <a:t>Baek, J., Jauhar, S. K., Cucerzan, S., &amp; Hwang, S. J. (2024). ResearchAgent: Iterative Research Idea Generation over Scientific Literature with Large Language Models. arXiv:2404.07738.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[4]  </a:t>
            </a:r>
            <a:r>
              <a:rPr sz="1200">
                <a:solidFill>
                  <a:srgbClr val="334155"/>
                </a:solidFill>
                <a:latin typeface="Segoe UI"/>
              </a:rPr>
              <a:t>Elovic, A. GPT Researcher: An autonomous agent designed for comprehensive web and local research. github.com/assafelovic/gpt-researcher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[5]  </a:t>
            </a:r>
            <a:r>
              <a:rPr sz="1200">
                <a:solidFill>
                  <a:srgbClr val="334155"/>
                </a:solidFill>
                <a:latin typeface="Segoe UI"/>
              </a:rPr>
              <a:t>Ought Inc. Elicit: The AI Research Assistant. elicit.com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D9488"/>
                </a:solidFill>
                <a:latin typeface="Segoe UI Semibold"/>
              </a:rPr>
              <a:t>TECHNICAL &amp; TOOLING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05740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[6]  </a:t>
            </a:r>
            <a:r>
              <a:rPr sz="1200">
                <a:solidFill>
                  <a:srgbClr val="334155"/>
                </a:solidFill>
                <a:latin typeface="Segoe UI"/>
              </a:rPr>
              <a:t>Hu, E. J., Shen, Y., Wallis, P., et al. (2021). LoRA: Low-Rank Adaptation of Large Language Models. arXiv:2106.09685.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[7]  </a:t>
            </a:r>
            <a:r>
              <a:rPr sz="1200">
                <a:solidFill>
                  <a:srgbClr val="334155"/>
                </a:solidFill>
                <a:latin typeface="Segoe UI"/>
              </a:rPr>
              <a:t>Chung, H. W., Hou, L., Longpre, S., et al. (2022). Scaling Instruction-Finetuned Language Models (FLAN-T5). arXiv:2210.11416.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[8]  </a:t>
            </a:r>
            <a:r>
              <a:rPr sz="1200">
                <a:solidFill>
                  <a:srgbClr val="334155"/>
                </a:solidFill>
                <a:latin typeface="Segoe UI"/>
              </a:rPr>
              <a:t>Reimers, N., &amp; Gurevych, I. (2019). Sentence-BERT: Sentence Embeddings using Siamese BERT-Networks. Proceedings of EMNLP 2019.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[9]  </a:t>
            </a:r>
            <a:r>
              <a:rPr sz="1200">
                <a:solidFill>
                  <a:srgbClr val="334155"/>
                </a:solidFill>
                <a:latin typeface="Segoe UI"/>
              </a:rPr>
              <a:t>Allen Institute for AI. Semantic Scholar Academic Graph API. api.semanticscholar.org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[10]  </a:t>
            </a:r>
            <a:r>
              <a:rPr sz="1200">
                <a:solidFill>
                  <a:srgbClr val="334155"/>
                </a:solidFill>
                <a:latin typeface="Segoe UI"/>
              </a:rPr>
              <a:t>Cornell University. arXiv API Access. arxiv.org/help/api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[11]  </a:t>
            </a:r>
            <a:r>
              <a:rPr sz="1200">
                <a:solidFill>
                  <a:srgbClr val="334155"/>
                </a:solidFill>
                <a:latin typeface="Segoe UI"/>
              </a:rPr>
              <a:t>LangChain AI. LangGraph: Building Stateful, Multi-Agent LLM Applications. langchain-ai.github.io/langgraph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[12]  </a:t>
            </a:r>
            <a:r>
              <a:rPr sz="1200">
                <a:solidFill>
                  <a:srgbClr val="334155"/>
                </a:solidFill>
                <a:latin typeface="Segoe UI"/>
              </a:rPr>
              <a:t>Google DeepMind. Gemini API Documentation. ai.google.dev/gemini-api/docs</a:t>
            </a:r>
          </a:p>
          <a:p>
            <a:pPr>
              <a:spcAft>
                <a:spcPts val="1100"/>
              </a:spcAft>
            </a:pPr>
            <a:r>
              <a:rPr sz="1200" b="1">
                <a:solidFill>
                  <a:srgbClr val="0D9488"/>
                </a:solidFill>
                <a:latin typeface="Segoe UI Semibold"/>
              </a:rPr>
              <a:t>[13]  </a:t>
            </a:r>
            <a:r>
              <a:rPr sz="1200">
                <a:solidFill>
                  <a:srgbClr val="334155"/>
                </a:solidFill>
                <a:latin typeface="Segoe UI"/>
              </a:rPr>
              <a:t>Anthropic. Claude API Documentation. docs.anthropic.com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4748B"/>
                </a:solidFill>
                <a:latin typeface="Segoe UI"/>
              </a:rPr>
              <a:t>ARES — Adaptive Research Ecosystem Suite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1228</Words>
  <Application>Microsoft Office PowerPoint</Application>
  <PresentationFormat>Widescreen</PresentationFormat>
  <Paragraphs>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Anirudh Nair</cp:lastModifiedBy>
  <cp:revision>2</cp:revision>
  <dcterms:created xsi:type="dcterms:W3CDTF">2013-01-27T09:14:16Z</dcterms:created>
  <dcterms:modified xsi:type="dcterms:W3CDTF">2026-07-31T06:11:57Z</dcterms:modified>
  <cp:category/>
</cp:coreProperties>
</file>